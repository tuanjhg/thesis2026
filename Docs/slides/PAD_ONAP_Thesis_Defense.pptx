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3A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t+30s</c:v>
                  </c:pt>
                  <c:pt idx="1">
                    <c:v>t+60s</c:v>
                  </c:pt>
                  <c:pt idx="2">
                    <c:v>t+90s</c:v>
                  </c:pt>
                  <c:pt idx="3">
                    <c:v>t+120s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0.9884</c:v>
                </c:pt>
                <c:pt idx="1">
                  <c:v>0.9833</c:v>
                </c:pt>
                <c:pt idx="2">
                  <c:v>0.9772</c:v>
                </c:pt>
                <c:pt idx="3">
                  <c:v>0.9711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3A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96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|SHAP|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3A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src_port_entropy</c:v>
                  </c:pt>
                  <c:pt idx="1">
                    <c:v>proto_dist_tcp</c:v>
                  </c:pt>
                  <c:pt idx="2">
                    <c:v>proto_dist_udp</c:v>
                  </c:pt>
                  <c:pt idx="3">
                    <c:v>avg_pkt_size</c:v>
                  </c:pt>
                  <c:pt idx="4">
                    <c:v>inter_arrival_mean</c:v>
                  </c:pt>
                  <c:pt idx="5">
                    <c:v>byte_rate</c:v>
                  </c:pt>
                  <c:pt idx="6">
                    <c:v>pkt_rate</c:v>
                  </c:pt>
                  <c:pt idx="7">
                    <c:v>flow_entropy</c:v>
                  </c:pt>
                  <c:pt idx="8">
                    <c:v>syn_ratio</c:v>
                  </c:pt>
                  <c:pt idx="9">
                    <c:v>dst_port_entropy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3.21</c:v>
                </c:pt>
                <c:pt idx="1">
                  <c:v>2.87</c:v>
                </c:pt>
                <c:pt idx="2">
                  <c:v>2.64</c:v>
                </c:pt>
                <c:pt idx="3">
                  <c:v>1.95</c:v>
                </c:pt>
                <c:pt idx="4">
                  <c:v>1.73</c:v>
                </c:pt>
                <c:pt idx="5">
                  <c:v>1.52</c:v>
                </c:pt>
                <c:pt idx="6">
                  <c:v>1.38</c:v>
                </c:pt>
                <c:pt idx="7">
                  <c:v>1.21</c:v>
                </c:pt>
                <c:pt idx="8">
                  <c:v>1.05</c:v>
                </c:pt>
                <c:pt idx="9">
                  <c:v>0.94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3A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  <c:min val="0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77240"/>
            <a:ext cx="54864" cy="3200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PAD-ONAP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AI-Augmented DDoS Mitigation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NFV Orchestration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633472"/>
            <a:ext cx="822960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61488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viên: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Tuấn Kha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TS. [Tên Giảng viên]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 Công nghệ Thông tin — Trường ĐHCN, ĐHQGHN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bảo vệ: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 Nội,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49440" y="2761488"/>
            <a:ext cx="1874520" cy="1234440"/>
          </a:xfrm>
          <a:prstGeom prst="rect">
            <a:avLst/>
          </a:prstGeom>
          <a:solidFill>
            <a:srgbClr val="EBF3FB"/>
          </a:solidFill>
          <a:ln w="12700">
            <a:solidFill>
              <a:srgbClr val="D9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2761488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VNU Hanoi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4434840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480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Mitigation  ·  NFV / ONAP  ·  ML Forecasting  ·  SLA Guarantees  ·  Proactive Defense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94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78040" y="594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UET · VNU Hanoi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02336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3891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&amp; Khoảng trống nghiên cứu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974336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4992624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161288"/>
            <a:ext cx="850392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161288"/>
            <a:ext cx="54864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777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63240" y="1161288"/>
            <a:ext cx="54864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777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18104" y="1161288"/>
            <a:ext cx="292608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2161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VNF boot  ≈ 6 s  (structural floor — cannot be reduced)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44184" y="1161288"/>
            <a:ext cx="54864" cy="34747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777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Scrubber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54680" y="1645920"/>
            <a:ext cx="2880360" cy="0"/>
          </a:xfrm>
          <a:prstGeom prst="line">
            <a:avLst/>
          </a:prstGeom>
          <a:noFill/>
          <a:ln w="19050">
            <a:solidFill>
              <a:srgbClr val="7F1D1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16733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proceeds unchecked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103120"/>
            <a:ext cx="0" cy="182880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103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 Reactive Latency Floor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246888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trễ đáp ứng tối thiểu = thời gian boot VNF (~6s). Không có cải tiến orchestration nào giảm được ngưỡng này.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72968" y="2103120"/>
            <a:ext cx="0" cy="182880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2103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 OOD Over-Escalation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64408" y="246888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tĩnh kích hoạt bất kỳ pattern nào vượt ngưỡng, gây false-positive VNF actuation với lưu lượng ngoài tập huấn luyện.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25896" y="2103120"/>
            <a:ext cx="0" cy="182880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17336" y="2103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 SLA Collision Under Mitigation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17336" y="246888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VNF tiêu tốn link capacity → có thể vi phạm SLA floor của tenant khác nếu không tái phân bổ băng thông.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4809744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837176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Câu hỏi trọng tâm: Có thể phòng thủ trước khi tấn công đạt đỉnh không?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94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78040" y="594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UET · VNU Hanoi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02336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3891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&amp; Câu hỏi nghiên cứu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974336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4992624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15214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1517904"/>
            <a:ext cx="402336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459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78408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" y="199339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 ML forecaster có giảm độ trễ mitigation so với rule-based threshold tại cùng false-positive rate không?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2724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78408" y="2724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Preservation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" y="307238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 policy engine 5 tier có bảo toàn SLA floor của từng tenant trong suốt quá trình mitigation không?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380390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8408" y="38039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/ Rollback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" y="415137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Pre-positioning chủ động ở Tier-2 có an toàn không — không tenant nào rớt dưới floor, de-escalation trong bounded time?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115214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0" y="1517904"/>
            <a:ext cx="425196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645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38928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30s lead-time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0" y="1993392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Forecaster kích hoạt mitigation sớm hơn threshold baseline ít nhất 30s trên gradual-ramp attack.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27249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38928" y="2724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≥ 0.98 · AUC ≥ 0.99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3072384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 ≥ 0.98 và macro AUC ≥ 0.99 đạt được dưới temporal 80/20 split, không shuffle.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0" y="380390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38928" y="3803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URLLC ≥ 150 Mbps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4151376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floor 150 Mbps của tenant URLLC được bảo toàn ở mọi tier trong toàn bộ 8 evaluation scenarios.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80560" y="1115568"/>
            <a:ext cx="0" cy="374904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94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Background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78040" y="594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UET · VNU Hanoi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02336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3891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kỹ thuật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974336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4992624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1612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NFV / SFC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545336"/>
            <a:ext cx="269748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Network Functions Virtualization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0040" y="1929384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VNF thay thế hardware middleboxes bằng software trên COTS servers.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26974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Service Function Chaining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0040" y="3008376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VNF (rate-limiter → scrubber → blackhole) được định nghĩa qua SFC descriptor.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0040" y="377647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Instantiation latency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0040" y="4087368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boot quyết định tốc độ phản ứng — là hard floor của hệ thống reactive.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108960" y="11612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ONAP MANO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108960" y="1545336"/>
            <a:ext cx="269748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161848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 (Service Orchestrator)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108960" y="1929384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vòng đời VNF qua REST v7 API; PAD-ONAP dùng SO client stub.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08960" y="26974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CLAMP / Policy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108960" y="3008376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automation: nhận signal từ DMaaP, áp dụng policy để trigger SO.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108960" y="377647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DMaaP (Kafka)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108960" y="4087368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bus decoupling AI stage (S3) khỏi orchestration stage (S4); topic: PAD_ONAP_AI_SIGNALS.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97880" y="11612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ML cho Network Security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1545336"/>
            <a:ext cx="269748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1848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Ensemble Trees (XGBoost)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897880" y="1929384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đa lớp hiệu quả trên feature vector entropy/rate; P99 &lt; 3ms.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97880" y="26974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Transformer + LSTM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897880" y="3008376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Transformer cho temporal pattern → LSTM cho sequential dependency → 4 forecast heads.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897880" y="377647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SHAP interpretability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897880" y="4087368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TreeExplainer cung cấp per-prediction feature attribution, tăng tính tin cậy của AI decision.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94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Background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78040" y="594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UET · VNU Hanoi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02336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3891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trình liên quan &amp; Research Gaps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974336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4992624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61288"/>
          <a:ext cx="8503920" cy="3337560"/>
        </p:xfrm>
        <a:graphic>
          <a:graphicData uri="http://schemas.openxmlformats.org/drawingml/2006/table">
            <a:tbl>
              <a:tblPr/>
              <a:tblGrid>
                <a:gridCol w="2560320"/>
                <a:gridCol w="987552"/>
                <a:gridCol w="987552"/>
                <a:gridCol w="987552"/>
                <a:gridCol w="987552"/>
                <a:gridCol w="987552"/>
                <a:gridCol w="1005840"/>
              </a:tblGrid>
              <a:tr h="4171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OOD-safe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TST-DDoS 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83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NetProbe 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83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83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ML 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FlowGuard (2022)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83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83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DAWN 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NFV-6G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PAD-ONAP (ours)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20040" y="460857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Chỉ PAD-ONAP có (3 khoảng trống chưa có công trình nào kết hợp cùng lúc)  ·  ~ = Partial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94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78040" y="594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UET · VNU Hanoi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02336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3891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PAD-ONAP — Pipeline 4 tầng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974336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4992624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207008"/>
            <a:ext cx="182880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0700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1828800" cy="180136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773936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2768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gNMI per-device counters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679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NetFlow v5 records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0815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Window: every 5 seconds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194560" y="2336292"/>
            <a:ext cx="33528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9840" y="1207008"/>
            <a:ext cx="1828800" cy="5303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9840" y="120700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529840" y="1737360"/>
            <a:ext cx="1828800" cy="180136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84704" y="1773936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21280" y="22768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17-dim vector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21280" y="2679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Rate (6) + Entropy (5)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21280" y="30815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Protocol-mix (6)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58640" y="2336292"/>
            <a:ext cx="33528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93920" y="1207008"/>
            <a:ext cx="1828800" cy="5303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3920" y="120700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693920" y="1737360"/>
            <a:ext cx="1828800" cy="180136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48784" y="1773936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85360" y="22768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XGBoost 7-class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85360" y="2679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Transformer+LSTM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85360" y="30815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AIOutputPayload JSON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22720" y="2336292"/>
            <a:ext cx="33528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0" y="1207008"/>
            <a:ext cx="1828800" cy="5303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120700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858000" y="1737360"/>
            <a:ext cx="1828800" cy="180136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12864" y="1773936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49440" y="22768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5-tier Policy Engine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49440" y="2679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LP SLA Allocator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49440" y="30815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ONAP SO client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77000" y="1897380"/>
            <a:ext cx="42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AIOutputPayload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on DMaaP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0040" y="3703320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758184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AIOutputPayload JSON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(schema v1.0 trên topic 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PAD_ONAP_AI_SIGNALS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là interface duy nhất giữa S3 và S4. Mỗi stage có thể thay thế độc lập mà không ảnh hưởng stage kia.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0040" y="419709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Mỗi window 5 giây: S1 thu thập → S2 trích đặc trưng → S3 infer + forecast → S4 quyết định và thực thi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94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78040" y="594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UET · VNU Hanoi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02336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3891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lặp điều khiển ONAP (Closed-Loop)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974336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4992624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-137160" y="1207008"/>
            <a:ext cx="128016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37160" y="1207008"/>
            <a:ext cx="128016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-137160" y="1298448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(S3)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43000" y="1810512"/>
            <a:ext cx="34747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90472" y="1207008"/>
            <a:ext cx="128016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90472" y="1207008"/>
            <a:ext cx="128016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90472" y="1298448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(Kafka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70632" y="1810512"/>
            <a:ext cx="34747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18104" y="1207008"/>
            <a:ext cx="128016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18104" y="1207008"/>
            <a:ext cx="128016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18104" y="1298448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(DCAE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98264" y="1810512"/>
            <a:ext cx="34747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1207008"/>
            <a:ext cx="128016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45736" y="1207008"/>
            <a:ext cx="128016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45736" y="1298448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(PDP)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25896" y="1810512"/>
            <a:ext cx="34747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73368" y="1207008"/>
            <a:ext cx="128016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73368" y="1207008"/>
            <a:ext cx="128016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1298448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REST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53528" y="1810512"/>
            <a:ext cx="34747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01000" y="1207008"/>
            <a:ext cx="128016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01000" y="1207008"/>
            <a:ext cx="1280160" cy="73152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01000" y="1298448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VNF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226296" y="2651760"/>
            <a:ext cx="-7790688" cy="0"/>
          </a:xfrm>
          <a:prstGeom prst="line">
            <a:avLst/>
          </a:prstGeom>
          <a:noFill/>
          <a:ln w="15240">
            <a:solidFill>
              <a:srgbClr val="2E75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-137160" y="2697480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feedback (tier change log → CLAMP policy update)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054096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14553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Mode: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PAD_ONAP_STUB=true — SO client implement SO v7 REST contract mà không gọi live Kubernetes. Latency được sim từ ETSI NFV ISG PoC #4 values.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" y="36576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AIOutputPayload: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v1.0: detection.attack_class, detection.confidence, forecast[4 horizons], top_features[5 SHAP], suggested_tier, proactive flag.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0040" y="416966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triển: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thật với ONAP OOM trên Kubernetes; đo VNF boot time thực từ Docker container.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94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78040" y="594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UET · VNU Hanoi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02336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3891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5 Tier &amp; LP SLA Allocator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974336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4992624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15214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Five-Tier Mitigation Ladder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17904"/>
          <a:ext cx="5029200" cy="2560320"/>
        </p:xfrm>
        <a:graphic>
          <a:graphicData uri="http://schemas.openxmlformats.org/drawingml/2006/table">
            <a:tbl>
              <a:tblPr/>
              <a:tblGrid>
                <a:gridCol w="685800"/>
                <a:gridCol w="1097280"/>
                <a:gridCol w="2103120"/>
                <a:gridCol w="114300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VNF / Boot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83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+ alert operator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PREEMPT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Pre-position rate-limiter VNF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Scrubber VNF + SFC chain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6 006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Blackhole upstream + scrubber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20040" y="42062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(k=2):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không giảm quá 1 mức/window, ngăn VNF churn.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guard: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re-instantiation same tier nếu elapsed &lt; 50s.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532120" y="115214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Multi-Tenant SLA Allocator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532120" y="1572768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 Σ wᵤ·aᵤ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s.t. Σ aᵤ ≤ C − o(T)       [capacity]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floorᵤ ≤ aᵤ ≤ dᵤ    [per-tenant]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532120" y="2468880"/>
            <a:ext cx="33375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32120" y="254203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20840" y="254203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Mbps total link capacity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532120" y="293522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o(T₂)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720840" y="2935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Mbps VNF overhead at Tier-2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532120" y="332841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floor_URLLC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720840" y="33284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Mbps  (Invariant H3)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532120" y="372160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floor_eMBB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720840" y="372160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Mbps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532120" y="41148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floor_mMTC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720840" y="41148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Mbps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532120" y="45079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720840" y="45079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HiGHS via scipy.optimize.linprog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532120" y="4974336"/>
            <a:ext cx="3337560" cy="329184"/>
          </a:xfrm>
          <a:prstGeom prst="rect">
            <a:avLst/>
          </a:prstGeom>
          <a:solidFill>
            <a:srgbClr val="D1FAE5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23560" y="497433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URLLC floor 150 Mbps preserved in all 8/8 scenarios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440680" y="1115568"/>
            <a:ext cx="0" cy="3822192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94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AI Components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78040" y="594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UET · VNU Hanoi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02336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3891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Features &amp; XGBoost 7-Class Detector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974336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4992624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15214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Features  (6)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481328"/>
            <a:ext cx="1627632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53619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pkt_rate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186537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byte_rate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21945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inter_arrival_mean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52374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inter_arrival_std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285292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inter_arrival_min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318211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inter_arrival_max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11680" y="115214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Features  (5)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11680" y="1481328"/>
            <a:ext cx="1627632" cy="0"/>
          </a:xfrm>
          <a:prstGeom prst="line">
            <a:avLst/>
          </a:prstGeom>
          <a:noFill/>
          <a:ln w="12700">
            <a:solidFill>
              <a:srgbClr val="5B21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153619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src_port_entropy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11680" y="186537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dst_port_entropy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11680" y="21945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src_ip_entropy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11680" y="252374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dst_ip_entropy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11680" y="285292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flow_entropy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703320" y="115214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Protocol-Mix  (6)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03320" y="1481328"/>
            <a:ext cx="1627632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153619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proto_dist_tcp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703320" y="186537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proto_dist_udp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03320" y="21945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proto_dist_icmp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703320" y="252374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syn_ratio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703320" y="285292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avg_pkt_size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703320" y="318211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flow_rate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0" y="115214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7-Class Detector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0" y="1481328"/>
            <a:ext cx="338328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1554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400 trees · depth 6 · η = 0.10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0" y="18836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CICDDoS2019 · temporal 80/20 (no shuffle)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0" y="2212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FGSM adversarial augmentation ε = 0.02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2560320"/>
          <a:ext cx="3383280" cy="1783080"/>
        </p:xfrm>
        <a:graphic>
          <a:graphicData uri="http://schemas.openxmlformats.org/drawingml/2006/table">
            <a:tbl>
              <a:tblPr/>
              <a:tblGrid>
                <a:gridCol w="1691640"/>
                <a:gridCol w="914400"/>
                <a:gridCol w="77724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(7-class)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P99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CPU, batch=1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39" name="Text 36"/>
          <p:cNvSpPr/>
          <p:nvPr/>
        </p:nvSpPr>
        <p:spPr>
          <a:xfrm>
            <a:off x="5486400" y="44439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Attack-only 5-fold CV: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= 0.9987±0.0004,  Macro-AUC = 1.000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486400" y="48280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confusion pattern (UDP↔Ampl, SYN↔UDP) confirms no data leakage.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394960" y="1115568"/>
            <a:ext cx="0" cy="3822192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94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AI Components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78040" y="594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UET · VNU Hanoi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02336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3891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Transformer+LSTM 4-Horizon Forecaster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974336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4992624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1521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(Track B)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499616"/>
            <a:ext cx="384048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5727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8-step sliding window (40 s of history)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06654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Transformer, d=64, h=8 heads, dropout=0.1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25603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LSTM, hidden dim = 64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305409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independent sigmoid heads → p_attack ∈ [0,1]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354787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Horizons: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t+30s · t+60s · t+90s · t+120s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04164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~530 000  |  Training: Adam, 30 epochs, batch=64</a:t>
            </a:r>
            <a:endParaRPr lang="en-US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434840" y="1152144"/>
          <a:ext cx="46177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3730752"/>
          <a:ext cx="4617720" cy="1417320"/>
        </p:xfrm>
        <a:graphic>
          <a:graphicData uri="http://schemas.openxmlformats.org/drawingml/2006/table">
            <a:tbl>
              <a:tblPr/>
              <a:tblGrid>
                <a:gridCol w="1371600"/>
                <a:gridCol w="1618488"/>
                <a:gridCol w="162763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t+30s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t+60s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t+90s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t+120s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 = 7.68 ms (single forward pass, all 4 horizons)  ·  Monotonic AUC ↓ = anti-leakage quality signal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343400" y="1115568"/>
            <a:ext cx="0" cy="3822192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94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AI Components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78040" y="594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UET · VNU Hanoi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02336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3891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Robustness: FGSM &amp; SHAP Interpretability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974336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4992624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1521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Augmentation (FGSM)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499616"/>
            <a:ext cx="393192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5727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Gradient Sign Method (FGSM), ε = 0.02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15798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samples only, trước khi train Track 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2743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Post-augmentation Acc và AUC sai lệch &lt; 0.003 so với baseline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33284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robustness với small perturbation trong feature space mà không giảm accuracy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39136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x̃ = x + ε · sign(∇ₓ L(x, y))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115214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Interpretability (Top-5 Features)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17720" y="1499616"/>
            <a:ext cx="452628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618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src_port_entropy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1655064"/>
            <a:ext cx="2348179" cy="219456"/>
          </a:xfrm>
          <a:prstGeom prst="rect">
            <a:avLst/>
          </a:prstGeom>
          <a:solidFill>
            <a:srgbClr val="D9E8F5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86139" y="16184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proto_dist_tcp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0" y="2249424"/>
            <a:ext cx="2099462" cy="219456"/>
          </a:xfrm>
          <a:prstGeom prst="rect">
            <a:avLst/>
          </a:prstGeom>
          <a:solidFill>
            <a:srgbClr val="D9E8F5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37422" y="2212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7720" y="2807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proto_dist_udp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0" y="2843784"/>
            <a:ext cx="1931213" cy="219456"/>
          </a:xfrm>
          <a:prstGeom prst="rect">
            <a:avLst/>
          </a:prstGeom>
          <a:solidFill>
            <a:srgbClr val="D9E8F5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69173" y="2807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1772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avg_pkt_size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92240" y="3438144"/>
            <a:ext cx="1426464" cy="219456"/>
          </a:xfrm>
          <a:prstGeom prst="rect">
            <a:avLst/>
          </a:prstGeom>
          <a:solidFill>
            <a:srgbClr val="D9E8F5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64424" y="3401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17720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inter_arrival_mean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92240" y="4032504"/>
            <a:ext cx="1265530" cy="219456"/>
          </a:xfrm>
          <a:prstGeom prst="rect">
            <a:avLst/>
          </a:prstGeom>
          <a:solidFill>
            <a:srgbClr val="D9E8F5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03490" y="3995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17720" y="462686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insight: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floods → src_port_entropy ≈ 0 (traffic concentrated on few ports). Benign traffic → high entropy. Stable SHAP rank across tất cả 5 CV folds → model không rely vào brittle discriminator.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26280" y="1115568"/>
            <a:ext cx="0" cy="3822192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94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78040" y="594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UET · VNU Hanoi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02336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3891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thực nghiệm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974336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4992624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15214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Hardware &amp; Software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499616"/>
            <a:ext cx="411480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5727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Intel Core i5 CPU  ·  16 GB DDR4 RAM  ·  NVIDIA RTX 3050 (4 GB, dùng chỉ cho training)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" y="20299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Python 3.10  ·  XGBoost 1.7  ·  PyTorch 2.0  ·  SciPy + HiGHS LP solver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24871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Seeds: NumPy 42 · PyTorch 42 · XGBoost 42  (reproducibility)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09160" y="115214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Dataset &amp; Topology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499616"/>
            <a:ext cx="411480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5727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CICDDoS2019: temporal 80/20 split (chronological order, no shuffle)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9160" y="20299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BENIGN oversampling ×27.8 → 17 964 windows để balance classes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4871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Fat-tree k=4: 20 switches (4 core, 4 aggr, 8 edge) + 16 hosts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" y="30906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8 Evaluation Scenarios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438144"/>
            <a:ext cx="411480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51129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S1 Normal · S2 Sudden UDP flood · S3 Gradual SYN ramp · S4 HTTP OOD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0040" y="396849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S5 ICMP OOD · S6 Multi-attack · S7 SLA 3-tenant · S8 Proactive vs reactive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" y="442569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Mỗi scenario: 100–130 windows × 5s. Tier được quyết định per-window.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09160" y="30906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Disclosed Limitations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3438144"/>
            <a:ext cx="4114800" cy="0"/>
          </a:xfrm>
          <a:prstGeom prst="line">
            <a:avLst/>
          </a:prstGeom>
          <a:noFill/>
          <a:ln w="12700">
            <a:solidFill>
              <a:srgbClr val="78350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51129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ONAP SO chạy stub mode (PAD_ONAP_STUB=true) — không có live Kubernetes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09160" y="396849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VNF boot times: 505ms (T2) và 6006ms (T3) được simulate từ ETSI NFV ISG PoC #4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09160" y="442569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Single-node, single-dataset evaluation — chưa distributed multi-orchestrator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94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78040" y="594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UET · VNU Hanoi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02336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3891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8 kịch bản S1–S8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974336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4992624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52144"/>
          <a:ext cx="8503920" cy="3840480"/>
        </p:xfrm>
        <a:graphic>
          <a:graphicData uri="http://schemas.openxmlformats.org/drawingml/2006/table">
            <a:tbl>
              <a:tblPr/>
              <a:tblGrid>
                <a:gridCol w="502920"/>
                <a:gridCol w="2212848"/>
                <a:gridCol w="822960"/>
                <a:gridCol w="685800"/>
                <a:gridCol w="1078992"/>
                <a:gridCol w="1078992"/>
                <a:gridCol w="685800"/>
                <a:gridCol w="1435608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P50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P50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Sudden UDP flood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F1D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6 006 ms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Gradual SYN ramp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75B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505.5 ms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flood (OOD)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ICMP burst (OOD)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 UDP+SYN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75B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505.0 ms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F1D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6 005 ms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fairness 3-tenant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75B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505.7 ms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 vs reactive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75B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505.2 ms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F1D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6 006 ms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384048">
                <a:tc gridSpan="7"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8/8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20040" y="4828032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(blue): slides S3, S7, S8 — key proactive scenarios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94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78040" y="594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UET · VNU Hanoi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02336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3891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với Threshold Baseline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974336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4992624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152144"/>
            <a:ext cx="4023360" cy="960120"/>
          </a:xfrm>
          <a:prstGeom prst="rect">
            <a:avLst/>
          </a:prstGeom>
          <a:solidFill>
            <a:srgbClr val="D1FAE5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PAD-ONAP (AI)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59105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  PASS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88920" y="1280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S4 → T1  (under-responds gracefully)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S5 → T0  (under-responds gracefully)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26280" y="1152144"/>
            <a:ext cx="4297680" cy="960120"/>
          </a:xfrm>
          <a:prstGeom prst="rect">
            <a:avLst/>
          </a:prstGeom>
          <a:solidFill>
            <a:srgbClr val="FEE2E2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2070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Baseline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159105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  PASS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86600" y="1280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S4 → T2  (false-positive VNF!)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S5 → T2  (false-positive VNF!)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212848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30428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S3 Lead-time: +65 s (H1 confirmed)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26243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PAD-ONAP pre-positions T2 tại window 42 (t=210s)  vs  Baseline triggers T3 tại window 55 (t=275s)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289864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Lead-time = (55−42)×5s = 65s  &gt;  target 30s  →  H1 exceeded by factor 2.2×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040" y="31729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PAD-ONAP dùng rate-limiter (505ms); Baseline dùng scrubber (6006ms) — tier thấp hơn, cost thấp hơn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0040" y="321868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S8 Head-to-head: 10.9× speed-up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" y="35387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First proactive T2: window 31, latency 505ms  |  First reactive T3: window 58, latency 6006ms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0040" y="381304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10.9× = 6006/505  |  Window distance: (58−31)×5s = 135s advantage within same orchestrator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0040" y="413308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OOD Safety: AI under-responds, Baseline over-escalates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" y="44531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S4 HTTP: pkt_rate&gt;800 → Baseline T2 (false positive)  |  AI: low posterior → T1 (correct)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0040" y="472744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S5 ICMP: icmp_frac&gt;0.70 → Baseline T2 (false positive)  |  AI: below threshold → T0 (correct)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94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78040" y="594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UET · VNU Hanoi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02336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3891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3 Giả thuyết H1 / H2 / H3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974336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4992624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207008"/>
            <a:ext cx="8503920" cy="1115568"/>
          </a:xfrm>
          <a:prstGeom prst="rect">
            <a:avLst/>
          </a:prstGeom>
          <a:solidFill>
            <a:srgbClr val="D1FAE5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207008"/>
            <a:ext cx="54864" cy="111556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801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097280" y="129844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30s lead-time on gradual-ramp attack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162763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+65s lead-time (S3, SYN ramp)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19933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(55−42)×5 = 65s  &gt;  30s target  →  exceeded 2.2×  ·  Source: Table lead_time_comparison.csv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441448"/>
            <a:ext cx="8503920" cy="1115568"/>
          </a:xfrm>
          <a:prstGeom prst="rect">
            <a:avLst/>
          </a:prstGeom>
          <a:solidFill>
            <a:srgbClr val="D1FAE5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441448"/>
            <a:ext cx="54864" cy="111556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146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97280" y="253288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Acc ≥ 0.98  ·  Macro AUC ≥ 0.99  (temporal 80/20, no shuffle)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286207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 = 0.9825  ·  Macro AUC = 0.9958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2278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targets exceeded; monotonic AUC 0.988→0.971 anti-leakage signal  ·  Source: project_ai_v2_training.md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675888"/>
            <a:ext cx="8503920" cy="1115568"/>
          </a:xfrm>
          <a:prstGeom prst="rect">
            <a:avLst/>
          </a:prstGeom>
          <a:solidFill>
            <a:srgbClr val="D1FAE5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675888"/>
            <a:ext cx="54864" cy="111556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7490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097280" y="376732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URLLC bandwidth floor ≥ 150 Mbps ở mọi tier, toàn bộ 8 scenarios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409651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a_URLLC = 150 Mbps, sla_ok=true, tất cả 8/8 scenarios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46227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invariant: floor_URLLC=150 encode trực tiếp trong constraint LP  ·  Source: evaluation/results/evaluation_summary.json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910328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95604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này đóng vòng với Slide 3: tất cả 3 giả thuyết đề ra đều được xác nhận bởi bằng chứng thực nghiệm.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94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78040" y="594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UET · VNU Hanoi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02336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3891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Đóng góp chính của luận văn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974336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4992624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152144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60120" y="1152144"/>
            <a:ext cx="0" cy="86868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8136" y="1188720"/>
            <a:ext cx="7735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4 tầng AI-augmented ONAP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88136" y="1517904"/>
            <a:ext cx="6638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S1→S2→S3→S4 với AIOutputPayload JSON trên DMaaP; policy engine 5 tier có hysteresis + frequency guard; các stage độc lập và thay thế được nhau.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0" y="165506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pipeline/  ·  graphify-out/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048256"/>
            <a:ext cx="85039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084832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60120" y="2084832"/>
            <a:ext cx="0" cy="86868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8136" y="2121408"/>
            <a:ext cx="7735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Transformer+LSTM multi-horizon DDoS forecaster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88136" y="2450592"/>
            <a:ext cx="6638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4-horizon forecaster (t+30…120s) với AUC 0.988→0.971, P99=7.68ms. Monotonic AUC degradation xác nhận calibration tốt, không có circular label leakage.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0" y="258775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pipeline/s3_ai/  ·  models_v2/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980944"/>
            <a:ext cx="85039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01752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60120" y="3017520"/>
            <a:ext cx="0" cy="86868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8136" y="3054096"/>
            <a:ext cx="7735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multi-tenant SLA allocator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88136" y="3383280"/>
            <a:ext cx="6638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program (HiGHS/SciPy) giải tại mỗi tier transition, đảm bảo floor_URLLC=150Mbps trong toàn bộ 8/8 scenarios. Proportional fallback khi LP unavailable.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0" y="35204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pipeline/s4_orchestration/sla_allocator.py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913632"/>
            <a:ext cx="85039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950208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60120" y="3950208"/>
            <a:ext cx="0" cy="86868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88136" y="3986784"/>
            <a:ext cx="7735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định lượng so với rule-based baseline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88136" y="4315968"/>
            <a:ext cx="6638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 vs 6/8 scenario pass. +65s lead-time advantage (S3). 10.9× proactive speed-up (505ms vs 6006ms). Baseline FAIL 2 OOD scenarios qua over-escalation; PAD-ONAP degrades gracefully.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772400" y="445312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evaluation/  ·  evaluation/results/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94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78040" y="594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UET · VNU Hanoi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02336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3891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&amp; Hướng phát triển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974336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4992624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15214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(5 threats to validity)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499616"/>
            <a:ext cx="4023360" cy="0"/>
          </a:xfrm>
          <a:prstGeom prst="line">
            <a:avLst/>
          </a:prstGeom>
          <a:noFill/>
          <a:ln w="12700">
            <a:solidFill>
              <a:srgbClr val="7835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59105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ONAP SO stub: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live Kubernetes VNF instantiation (PAD_ONAP_STUB=true).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23113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boot: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505ms / 6006ms calibrate từ ETSI PoC #4, chưa đo Docker thật.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287121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scope: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3/7 attack classes thiếu NetFlow records → chỉ đánh giá OOD.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351129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Single-node: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test distributed multi-orchestrator deployment.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415137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dataset: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cross-dataset validation (BCCC-cPacket-2024, CAIDA).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115214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17720" y="1499616"/>
            <a:ext cx="452628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59105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ONAP OOM: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SO+CLAMP+Policy trên Kubernetes, đo actual VNF boot time.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223113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Fat-tree scale-out: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k=4→k=8 (16→128 hosts), đo orchestrator throughput.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287121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adversarial: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+ BIM; adaptive adversary (S9) quan sát feature thresholds.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351129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Concept-drift monitor: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trên 17 features &gt; 0.2 → tự động trigger retraining via DMaaP.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415137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transfer sang BCCC-cPacket-Cloud-DDoS-2024.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26280" y="1115568"/>
            <a:ext cx="0" cy="3822192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791456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81888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quý thầy cô và hội đồng đã lắng nghe. Xin mời hội đồng đặt câu hỏi.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94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 |  Backup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78040" y="594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UET · VNU Hanoi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02336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3891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AIOutputPayload JSON Schema (Interface Contract)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974336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4992624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/ 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15214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PAD_ONAP_AI_SIGNALS  ·  Schema version: 1.0  ·  Emitted by S3 at end of every 5-second window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499616"/>
            <a:ext cx="5943600" cy="35204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572768"/>
            <a:ext cx="572414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"schema_version": "1.0",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     &lt;epoch seconds, float&gt;,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"device_id":      "&lt;string&gt;",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"detection":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"attack_class":  &lt;int 0..6&gt;,         // 0=BENIGN, 1=UDP, 2=SYN, 3=DrDoS, 4=HTTP, 5=ICMP, 6=Slow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"confidence":    &lt;float 0..1&gt;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"forecast":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"horizon_s": 30,  "p_attack": &lt;float 0..1&gt;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"horizon_s": 60,  "p_attack": &lt;float 0..1&gt;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"horizon_s": 90,  "p_attack": &lt;float 0..1&gt;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"horizon_s": 120, "p_attack": &lt;float 0..1&gt;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"top_features":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"feature": "&lt;name&gt;", "shap": &lt;float&gt; },  // top-5 SHAP attributions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"suggested_tier": &lt;int 0..4&gt;,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"proactive":      &lt;bool&gt;               // true iff tier suggestion from FORECASTER path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46520" y="149961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detection: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output: lớp tấn công và confidence score.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46520" y="21762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forecast[4]: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Transformer+LSTM: xác suất tấn công tại 4 horizons tương lai.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46520" y="28529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top_features: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top-5 attributions — embedded trong mỗi payload.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46520" y="352958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suggested_tier: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logic sau khi xử lý detection + forecast.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46520" y="42062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proactive: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= true khi tier do forecaster quyết định (không phải detector). Dùng để tính lead-time.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94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 |  Backup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78040" y="594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UET · VNU Hanoi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02336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3891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Confusion Matrix (Temporal Test Set)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974336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4992624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/ 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15214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0=BENIGN · 1=UDP · 2=SYN · 3=DrDoS_Ampl · 4=HTTP · 5=ICMP(OOD) · 6=Slow(OOD)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17904"/>
          <a:ext cx="8503920" cy="3657600"/>
        </p:xfrm>
        <a:graphic>
          <a:graphicData uri="http://schemas.openxmlformats.org/drawingml/2006/table">
            <a:tbl>
              <a:tblPr/>
              <a:tblGrid>
                <a:gridCol w="1143000"/>
                <a:gridCol w="1051560"/>
                <a:gridCol w="1051560"/>
                <a:gridCol w="1051560"/>
                <a:gridCol w="1051560"/>
                <a:gridCol w="1051560"/>
                <a:gridCol w="1051560"/>
                <a:gridCol w="777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(ICMP)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(Slow)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(ICMP)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(Slow)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20040" y="4828032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ICMP &amp; Slow rows are zero — these classes are absent from training (OOD only). Diagonal blue = correct predictions. Red = notable misclassifications.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94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 |  Backup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78040" y="594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UET · VNU Hanoi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02336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3891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Top-10 Feature Attributions (Global, Test Set)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974336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4992624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/ 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15214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mean |SHAP| values from shap.TreeExplainer on temporal test set.  Rank order stable across all 5 CV folds.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320040" y="1499616"/>
          <a:ext cx="85039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320040" y="4828032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src_port_entropy (#1, SHAP=3.21): DDoS floods → entropy≈0 (traffic to single port). Physically valid, not modelling artefact.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94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 |  Backup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78040" y="594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UET · VNU Hanoi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02336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3891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Fat-tree Topology k=4  (20 switches · 16 hosts)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974336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4992624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/ 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15214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fat-tree: 4 core switches · 4 aggregation switches · 8 edge (ToR) switches · 16 hosts (2 per edge)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54480" y="1572768"/>
            <a:ext cx="64008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15727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1572768"/>
            <a:ext cx="64008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5727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1572768"/>
            <a:ext cx="64008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5727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1572768"/>
            <a:ext cx="64008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5727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6093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Layer (4 switches)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645920" y="2414016"/>
            <a:ext cx="64008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241401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017520" y="2414016"/>
            <a:ext cx="64008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241401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2414016"/>
            <a:ext cx="64008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241401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0" y="2414016"/>
            <a:ext cx="64008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241401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24505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(4 switches)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14400" y="3255264"/>
            <a:ext cx="64008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325526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920240" y="3255264"/>
            <a:ext cx="64008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20240" y="325526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971800" y="3255264"/>
            <a:ext cx="64008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71800" y="325526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977640" y="3255264"/>
            <a:ext cx="64008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77640" y="325526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0" y="3255264"/>
            <a:ext cx="64008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325526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35040" y="3255264"/>
            <a:ext cx="64008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0" y="325526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086600" y="3255264"/>
            <a:ext cx="64008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86600" y="325526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092440" y="3255264"/>
            <a:ext cx="64008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92440" y="325526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0040" y="3291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Edge/ToR (8)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14400" y="4059936"/>
            <a:ext cx="292608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4059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18642" y="4059936"/>
            <a:ext cx="292608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18642" y="4059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60704" y="3575304"/>
            <a:ext cx="0" cy="484632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20240" y="4059936"/>
            <a:ext cx="292608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20240" y="4059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024482" y="4059936"/>
            <a:ext cx="292608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24482" y="4059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066544" y="3575304"/>
            <a:ext cx="0" cy="484632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71800" y="4059936"/>
            <a:ext cx="292608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71800" y="4059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076042" y="4059936"/>
            <a:ext cx="292608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76042" y="4059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118104" y="3575304"/>
            <a:ext cx="0" cy="484632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977640" y="4059936"/>
            <a:ext cx="292608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77640" y="4059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h7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081882" y="4059936"/>
            <a:ext cx="292608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081882" y="4059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h8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123944" y="3575304"/>
            <a:ext cx="0" cy="484632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29200" y="4059936"/>
            <a:ext cx="292608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29200" y="4059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h9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133442" y="4059936"/>
            <a:ext cx="292608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33442" y="4059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175504" y="3575304"/>
            <a:ext cx="0" cy="484632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35040" y="4059936"/>
            <a:ext cx="292608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35040" y="4059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h11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139282" y="4059936"/>
            <a:ext cx="292608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39282" y="4059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h12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181344" y="3575304"/>
            <a:ext cx="0" cy="484632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086600" y="4059936"/>
            <a:ext cx="292608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86600" y="4059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h13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7190842" y="4059936"/>
            <a:ext cx="292608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190842" y="4059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h14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7232904" y="3575304"/>
            <a:ext cx="0" cy="484632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92440" y="4059936"/>
            <a:ext cx="292608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092440" y="4059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h15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8196682" y="4059936"/>
            <a:ext cx="292608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196682" y="4059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h16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8238744" y="3575304"/>
            <a:ext cx="0" cy="484632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20040" y="4114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(16 total, 2 per edge)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1874520" y="1892808"/>
            <a:ext cx="91440" cy="521208"/>
          </a:xfrm>
          <a:prstGeom prst="line">
            <a:avLst/>
          </a:prstGeom>
          <a:noFill/>
          <a:ln w="10160">
            <a:solidFill>
              <a:srgbClr val="D9E8F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874520" y="1892808"/>
            <a:ext cx="3657600" cy="521208"/>
          </a:xfrm>
          <a:prstGeom prst="line">
            <a:avLst/>
          </a:prstGeom>
          <a:noFill/>
          <a:ln w="10160">
            <a:solidFill>
              <a:srgbClr val="D9E8F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429000" y="1892808"/>
            <a:ext cx="-91440" cy="521208"/>
          </a:xfrm>
          <a:prstGeom prst="line">
            <a:avLst/>
          </a:prstGeom>
          <a:noFill/>
          <a:ln w="10160">
            <a:solidFill>
              <a:srgbClr val="D9E8F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429000" y="1892808"/>
            <a:ext cx="3474720" cy="521208"/>
          </a:xfrm>
          <a:prstGeom prst="line">
            <a:avLst/>
          </a:prstGeom>
          <a:noFill/>
          <a:ln w="10160">
            <a:solidFill>
              <a:srgbClr val="D9E8F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440680" y="1892808"/>
            <a:ext cx="-3474720" cy="521208"/>
          </a:xfrm>
          <a:prstGeom prst="line">
            <a:avLst/>
          </a:prstGeom>
          <a:noFill/>
          <a:ln w="10160">
            <a:solidFill>
              <a:srgbClr val="D9E8F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440680" y="1892808"/>
            <a:ext cx="91440" cy="521208"/>
          </a:xfrm>
          <a:prstGeom prst="line">
            <a:avLst/>
          </a:prstGeom>
          <a:noFill/>
          <a:ln w="10160">
            <a:solidFill>
              <a:srgbClr val="D9E8F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995160" y="1892808"/>
            <a:ext cx="-3657600" cy="521208"/>
          </a:xfrm>
          <a:prstGeom prst="line">
            <a:avLst/>
          </a:prstGeom>
          <a:noFill/>
          <a:ln w="10160">
            <a:solidFill>
              <a:srgbClr val="D9E8F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995160" y="1892808"/>
            <a:ext cx="-91440" cy="521208"/>
          </a:xfrm>
          <a:prstGeom prst="line">
            <a:avLst/>
          </a:prstGeom>
          <a:noFill/>
          <a:ln w="10160">
            <a:solidFill>
              <a:srgbClr val="D9E8F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20040" y="4809744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20040" y="483717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PAD-ONAP evaluation: single k=4 testbed (simulated). Future: scale to k=8 (54 switches, 128 hosts) to test orchestrator throughput under concurrent load.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94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 |  Backup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78040" y="594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UET · VNU Hanoi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02336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3891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với State-of-the-Art Systems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974336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4992624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/ 5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52144"/>
          <a:ext cx="8503920" cy="3429000"/>
        </p:xfrm>
        <a:graphic>
          <a:graphicData uri="http://schemas.openxmlformats.org/drawingml/2006/table">
            <a:tbl>
              <a:tblPr/>
              <a:tblGrid>
                <a:gridCol w="2423160"/>
                <a:gridCol w="777240"/>
                <a:gridCol w="914400"/>
                <a:gridCol w="1005840"/>
                <a:gridCol w="1234440"/>
                <a:gridCol w="1417320"/>
                <a:gridCol w="731520"/>
              </a:tblGrid>
              <a:tr h="428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(year)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VNF Boot (ms)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Multi-tenant SLA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OOD-safe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TST-DDoS 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NetProbe 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~3 000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ML 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FlowGuard (2022)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1-horizon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DAWN 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Latency-aware NFV-6G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8 000–14 000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PAD-ONAP (ours)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4-horizon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 floor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+1.15% acc vs TST-DDoS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0040" y="499262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&gt;15× faster VNF boot vs NFV-6G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0040" y="53035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Chỉ hệ thống duy nhất: 4-horizon forecasting + ONAP + LP SLA + OOD-safe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PAD-ONAP Thesis Defense</dc:title>
  <dc:subject>PptxGenJS Presentation</dc:subject>
  <dc:creator>Nguyen Tuan Kha</dc:creator>
  <cp:lastModifiedBy>Nguyen Tuan Kha</cp:lastModifiedBy>
  <cp:revision>1</cp:revision>
  <dcterms:created xsi:type="dcterms:W3CDTF">2026-04-27T00:14:53Z</dcterms:created>
  <dcterms:modified xsi:type="dcterms:W3CDTF">2026-04-27T00:14:53Z</dcterms:modified>
</cp:coreProperties>
</file>